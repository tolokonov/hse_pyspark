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291968"/>
            <a:ext cx="8374549" cy="1352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624" y="1791062"/>
            <a:ext cx="8498205" cy="151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spark.m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gdataschool.ru/wiki/datafram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081" y="1323735"/>
            <a:ext cx="505714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744220">
              <a:lnSpc>
                <a:spcPct val="114999"/>
              </a:lnSpc>
              <a:spcBef>
                <a:spcPts val="100"/>
              </a:spcBef>
            </a:pPr>
            <a:r>
              <a:rPr sz="3000" b="1" dirty="0">
                <a:latin typeface="Comic Sans MS"/>
                <a:cs typeface="Comic Sans MS"/>
              </a:rPr>
              <a:t>Промышленное</a:t>
            </a:r>
            <a:r>
              <a:rPr sz="3000" b="1" spc="-70" dirty="0">
                <a:latin typeface="Comic Sans MS"/>
                <a:cs typeface="Comic Sans MS"/>
              </a:rPr>
              <a:t> </a:t>
            </a:r>
            <a:r>
              <a:rPr sz="3000" b="1" spc="-10" dirty="0">
                <a:latin typeface="Comic Sans MS"/>
                <a:cs typeface="Comic Sans MS"/>
              </a:rPr>
              <a:t>машинное </a:t>
            </a:r>
            <a:r>
              <a:rPr sz="3000" b="1" dirty="0">
                <a:latin typeface="Comic Sans MS"/>
                <a:cs typeface="Comic Sans MS"/>
              </a:rPr>
              <a:t>обучение</a:t>
            </a:r>
            <a:r>
              <a:rPr sz="3000" b="1" spc="-35" dirty="0">
                <a:latin typeface="Comic Sans MS"/>
                <a:cs typeface="Comic Sans MS"/>
              </a:rPr>
              <a:t> </a:t>
            </a:r>
            <a:r>
              <a:rPr sz="3000" b="1" dirty="0">
                <a:latin typeface="Comic Sans MS"/>
                <a:cs typeface="Comic Sans MS"/>
              </a:rPr>
              <a:t>на</a:t>
            </a:r>
            <a:r>
              <a:rPr sz="3000" b="1" spc="-25" dirty="0">
                <a:latin typeface="Comic Sans MS"/>
                <a:cs typeface="Comic Sans MS"/>
              </a:rPr>
              <a:t> </a:t>
            </a:r>
            <a:r>
              <a:rPr sz="3000" b="1" spc="-10" dirty="0">
                <a:latin typeface="Comic Sans MS"/>
                <a:cs typeface="Comic Sans MS"/>
              </a:rPr>
              <a:t>Spark</a:t>
            </a:r>
            <a:endParaRPr sz="3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8297" y="2574282"/>
            <a:ext cx="5283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omic Sans MS"/>
                <a:cs typeface="Comic Sans MS"/>
              </a:rPr>
              <a:t>Лекция</a:t>
            </a:r>
            <a:r>
              <a:rPr sz="2100" spc="-60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8: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Обработка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dirty="0">
                <a:latin typeface="Comic Sans MS"/>
                <a:cs typeface="Comic Sans MS"/>
              </a:rPr>
              <a:t>потоковых</a:t>
            </a:r>
            <a:r>
              <a:rPr sz="2100" spc="-5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данных.</a:t>
            </a:r>
            <a:endParaRPr sz="2100">
              <a:latin typeface="Comic Sans MS"/>
              <a:cs typeface="Comic Sans MS"/>
            </a:endParaRPr>
          </a:p>
          <a:p>
            <a:pPr marL="1905" algn="ctr">
              <a:lnSpc>
                <a:spcPct val="100000"/>
              </a:lnSpc>
            </a:pPr>
            <a:r>
              <a:rPr sz="2100" dirty="0">
                <a:latin typeface="Comic Sans MS"/>
                <a:cs typeface="Comic Sans MS"/>
              </a:rPr>
              <a:t>Spark</a:t>
            </a:r>
            <a:r>
              <a:rPr sz="2100" spc="-85" dirty="0">
                <a:latin typeface="Comic Sans MS"/>
                <a:cs typeface="Comic Sans MS"/>
              </a:rPr>
              <a:t> </a:t>
            </a:r>
            <a:r>
              <a:rPr sz="2100" spc="-10" dirty="0">
                <a:latin typeface="Comic Sans MS"/>
                <a:cs typeface="Comic Sans MS"/>
              </a:rPr>
              <a:t>Streaming</a:t>
            </a:r>
            <a:endParaRPr sz="21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2207" y="4781550"/>
            <a:ext cx="11353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100" dirty="0">
                <a:latin typeface="Microsoft Sans Serif"/>
                <a:cs typeface="Microsoft Sans Serif"/>
              </a:rPr>
              <a:t>Толоконов Илья</a:t>
            </a:r>
            <a:endParaRPr sz="1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6432" rIns="0" bIns="0" rtlCol="0">
            <a:spAutoFit/>
          </a:bodyPr>
          <a:lstStyle/>
          <a:p>
            <a:pPr marL="2358390" marR="5080" indent="-2308225">
              <a:lnSpc>
                <a:spcPct val="100000"/>
              </a:lnSpc>
              <a:spcBef>
                <a:spcPts val="100"/>
              </a:spcBef>
            </a:pPr>
            <a:r>
              <a:rPr dirty="0"/>
              <a:t>08.</a:t>
            </a:r>
            <a:r>
              <a:rPr spc="-65" dirty="0"/>
              <a:t> </a:t>
            </a:r>
            <a:r>
              <a:rPr dirty="0"/>
              <a:t>Обработка</a:t>
            </a:r>
            <a:r>
              <a:rPr spc="-70" dirty="0"/>
              <a:t> </a:t>
            </a:r>
            <a:r>
              <a:rPr spc="-25" dirty="0"/>
              <a:t>потоковых</a:t>
            </a:r>
            <a:r>
              <a:rPr spc="-65" dirty="0"/>
              <a:t> </a:t>
            </a:r>
            <a:r>
              <a:rPr dirty="0"/>
              <a:t>данных.</a:t>
            </a:r>
            <a:r>
              <a:rPr spc="-60" dirty="0"/>
              <a:t> </a:t>
            </a:r>
            <a:r>
              <a:rPr dirty="0"/>
              <a:t>Structured</a:t>
            </a:r>
            <a:r>
              <a:rPr spc="-65" dirty="0"/>
              <a:t> </a:t>
            </a:r>
            <a:r>
              <a:rPr spc="-10" dirty="0"/>
              <a:t>Streaming </a:t>
            </a:r>
            <a:r>
              <a:rPr dirty="0"/>
              <a:t>и</a:t>
            </a:r>
            <a:r>
              <a:rPr spc="-35" dirty="0"/>
              <a:t> </a:t>
            </a:r>
            <a:r>
              <a:rPr dirty="0"/>
              <a:t>интеграция</a:t>
            </a:r>
            <a:r>
              <a:rPr spc="-25" dirty="0"/>
              <a:t> </a:t>
            </a:r>
            <a:r>
              <a:rPr dirty="0"/>
              <a:t>с </a:t>
            </a:r>
            <a:r>
              <a:rPr spc="-10" dirty="0">
                <a:solidFill>
                  <a:srgbClr val="0097A7"/>
                </a:solidFill>
                <a:hlinkClick r:id="rId2"/>
              </a:rPr>
              <a:t>spark.ml</a:t>
            </a:r>
            <a:r>
              <a:rPr spc="-10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839005"/>
            <a:ext cx="5238115" cy="228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План: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925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Потоковые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данные,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где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их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искать.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Сценарии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отказа.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Обработка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сценариев</a:t>
            </a:r>
            <a:r>
              <a:rPr sz="18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потери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Лямбда-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архитектура.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Spark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Streaming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&amp;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DStream.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Structured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Streaming.</a:t>
            </a:r>
            <a:endParaRPr sz="18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Интеграция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spark.ml.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3195" y="2344201"/>
            <a:ext cx="5053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Потоковые</a:t>
            </a:r>
            <a:r>
              <a:rPr spc="-75" dirty="0"/>
              <a:t> </a:t>
            </a:r>
            <a:r>
              <a:rPr dirty="0"/>
              <a:t>данные</a:t>
            </a:r>
            <a:r>
              <a:rPr spc="-75" dirty="0"/>
              <a:t> </a:t>
            </a:r>
            <a:r>
              <a:rPr spc="-10" dirty="0"/>
              <a:t>где</a:t>
            </a:r>
            <a:r>
              <a:rPr spc="-75" dirty="0"/>
              <a:t> </a:t>
            </a:r>
            <a:r>
              <a:rPr dirty="0"/>
              <a:t>их</a:t>
            </a:r>
            <a:r>
              <a:rPr spc="-65" dirty="0"/>
              <a:t> </a:t>
            </a:r>
            <a:r>
              <a:rPr spc="-10" dirty="0"/>
              <a:t>искать.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Потоковые</a:t>
            </a:r>
            <a:r>
              <a:rPr spc="-75" dirty="0"/>
              <a:t> </a:t>
            </a:r>
            <a:r>
              <a:rPr dirty="0"/>
              <a:t>данные</a:t>
            </a:r>
            <a:r>
              <a:rPr spc="-75" dirty="0"/>
              <a:t> </a:t>
            </a:r>
            <a:r>
              <a:rPr spc="-10" dirty="0"/>
              <a:t>где</a:t>
            </a:r>
            <a:r>
              <a:rPr spc="-75" dirty="0"/>
              <a:t> </a:t>
            </a:r>
            <a:r>
              <a:rPr dirty="0"/>
              <a:t>их</a:t>
            </a:r>
            <a:r>
              <a:rPr spc="-65" dirty="0"/>
              <a:t> </a:t>
            </a:r>
            <a:r>
              <a:rPr spc="-10" dirty="0"/>
              <a:t>искать.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989131"/>
            <a:ext cx="48983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79095" algn="l"/>
              </a:tabLst>
            </a:pPr>
            <a:r>
              <a:rPr sz="1800" dirty="0">
                <a:latin typeface="Times New Roman"/>
                <a:cs typeface="Times New Roman"/>
              </a:rPr>
              <a:t>Датчики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IoT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Журналы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серверов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логи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безопасности</a:t>
            </a:r>
            <a:endParaRPr sz="18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Реклама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в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режиме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реального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времени</a:t>
            </a:r>
            <a:endParaRPr sz="18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00000"/>
              </a:lnSpc>
              <a:buFont typeface="Microsoft Sans Serif"/>
              <a:buChar char="●"/>
              <a:tabLst>
                <a:tab pos="379095" algn="l"/>
              </a:tabLst>
            </a:pPr>
            <a:r>
              <a:rPr sz="1800" spc="-10" dirty="0">
                <a:latin typeface="Times New Roman"/>
                <a:cs typeface="Times New Roman"/>
              </a:rPr>
              <a:t>Передача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данных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из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приложений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и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веб-сайтов </a:t>
            </a:r>
            <a:r>
              <a:rPr sz="1800" dirty="0">
                <a:latin typeface="Times New Roman"/>
                <a:cs typeface="Times New Roman"/>
              </a:rPr>
              <a:t>по </a:t>
            </a:r>
            <a:r>
              <a:rPr sz="1800" spc="-10" dirty="0">
                <a:latin typeface="Times New Roman"/>
                <a:cs typeface="Times New Roman"/>
              </a:rPr>
              <a:t>кликам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5515" y="1017724"/>
            <a:ext cx="2831583" cy="3782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8642" y="2344201"/>
            <a:ext cx="26466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Сценарии</a:t>
            </a:r>
            <a:r>
              <a:rPr spc="-40" dirty="0"/>
              <a:t> </a:t>
            </a:r>
            <a:r>
              <a:rPr spc="-10" dirty="0"/>
              <a:t>отказа.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286" y="1032563"/>
            <a:ext cx="7798498" cy="3078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07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00"/>
              </a:spcBef>
            </a:pPr>
            <a:r>
              <a:rPr dirty="0"/>
              <a:t>Отказ</a:t>
            </a:r>
            <a:r>
              <a:rPr spc="-55" dirty="0"/>
              <a:t> </a:t>
            </a:r>
            <a:r>
              <a:rPr dirty="0"/>
              <a:t>во</a:t>
            </a:r>
            <a:r>
              <a:rPr spc="-55" dirty="0"/>
              <a:t> </a:t>
            </a:r>
            <a:r>
              <a:rPr dirty="0"/>
              <a:t>время</a:t>
            </a:r>
            <a:r>
              <a:rPr spc="-55" dirty="0"/>
              <a:t> </a:t>
            </a:r>
            <a:r>
              <a:rPr spc="-10" dirty="0"/>
              <a:t>обработки.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725" y="1651556"/>
            <a:ext cx="7976350" cy="25032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Отказ</a:t>
            </a:r>
            <a:r>
              <a:rPr spc="-65" dirty="0"/>
              <a:t> </a:t>
            </a:r>
            <a:r>
              <a:rPr dirty="0"/>
              <a:t>во</a:t>
            </a:r>
            <a:r>
              <a:rPr spc="-65" dirty="0"/>
              <a:t> </a:t>
            </a:r>
            <a:r>
              <a:rPr dirty="0"/>
              <a:t>время</a:t>
            </a:r>
            <a:r>
              <a:rPr spc="-70" dirty="0"/>
              <a:t> </a:t>
            </a:r>
            <a:r>
              <a:rPr dirty="0"/>
              <a:t>отправки</a:t>
            </a:r>
            <a:r>
              <a:rPr spc="-65" dirty="0"/>
              <a:t> </a:t>
            </a:r>
            <a:r>
              <a:rPr dirty="0"/>
              <a:t>ответа</a:t>
            </a:r>
            <a:r>
              <a:rPr spc="-70" dirty="0"/>
              <a:t> </a:t>
            </a:r>
            <a:r>
              <a:rPr dirty="0"/>
              <a:t>о</a:t>
            </a:r>
            <a:r>
              <a:rPr spc="-65" dirty="0"/>
              <a:t> </a:t>
            </a:r>
            <a:r>
              <a:rPr spc="-10" dirty="0"/>
              <a:t>результатах обработки.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0174" y="2344201"/>
            <a:ext cx="3100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Лямбда</a:t>
            </a:r>
            <a:r>
              <a:rPr spc="-160" dirty="0"/>
              <a:t> </a:t>
            </a:r>
            <a:r>
              <a:rPr spc="-10" dirty="0"/>
              <a:t>архитектура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29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Лямбда-</a:t>
            </a:r>
            <a:r>
              <a:rPr spc="-10" dirty="0"/>
              <a:t>архитектура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0409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Архитектура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данных,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предназначенная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больших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объемов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использованием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пакетных,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так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потоковых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методов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обработки.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 Этот подход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архитектуре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пытается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сбалансировать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задержку,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пропускную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способность 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и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отказоустойчивость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помощью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пакетной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обеспечения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всестороннего</a:t>
            </a:r>
            <a:r>
              <a:rPr sz="1800" spc="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точного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представления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пакетных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данных,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одновременно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используя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потоковую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обработку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реальном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времени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для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обеспечения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представления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онлайновых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данных.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287" y="645163"/>
            <a:ext cx="8271837" cy="3853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284" y="2344201"/>
            <a:ext cx="41217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25" dirty="0"/>
              <a:t> </a:t>
            </a:r>
            <a:r>
              <a:rPr dirty="0"/>
              <a:t>Streaming</a:t>
            </a:r>
            <a:r>
              <a:rPr spc="-2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Spark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Streaming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это</a:t>
            </a:r>
            <a:r>
              <a:rPr spc="-25" dirty="0"/>
              <a:t> </a:t>
            </a:r>
            <a:r>
              <a:rPr spc="-10" dirty="0"/>
              <a:t>расширение</a:t>
            </a:r>
            <a:r>
              <a:rPr spc="-30" dirty="0"/>
              <a:t> </a:t>
            </a:r>
            <a:r>
              <a:rPr dirty="0"/>
              <a:t>основного</a:t>
            </a:r>
            <a:r>
              <a:rPr spc="-20" dirty="0"/>
              <a:t> </a:t>
            </a:r>
            <a:r>
              <a:rPr dirty="0"/>
              <a:t>API</a:t>
            </a:r>
            <a:r>
              <a:rPr spc="-25" dirty="0"/>
              <a:t> </a:t>
            </a:r>
            <a:r>
              <a:rPr dirty="0"/>
              <a:t>Spark,</a:t>
            </a:r>
            <a:r>
              <a:rPr spc="-25" dirty="0"/>
              <a:t> </a:t>
            </a:r>
            <a:r>
              <a:rPr spc="-10" dirty="0"/>
              <a:t>которое</a:t>
            </a:r>
            <a:r>
              <a:rPr spc="-25" dirty="0"/>
              <a:t> </a:t>
            </a:r>
            <a:r>
              <a:rPr spc="-10" dirty="0"/>
              <a:t>обеспечивает</a:t>
            </a:r>
            <a:r>
              <a:rPr spc="-25" dirty="0"/>
              <a:t> </a:t>
            </a:r>
            <a:r>
              <a:rPr spc="-10" dirty="0"/>
              <a:t>масштабируемую, высокопроизводительную</a:t>
            </a:r>
            <a:r>
              <a:rPr spc="-25" dirty="0"/>
              <a:t> </a:t>
            </a:r>
            <a:r>
              <a:rPr dirty="0"/>
              <a:t>и</a:t>
            </a:r>
            <a:r>
              <a:rPr spc="-20" dirty="0"/>
              <a:t> отказоустойчивую</a:t>
            </a:r>
            <a:r>
              <a:rPr spc="-25" dirty="0"/>
              <a:t> потоковую</a:t>
            </a:r>
            <a:r>
              <a:rPr spc="-20" dirty="0"/>
              <a:t> </a:t>
            </a:r>
            <a:r>
              <a:rPr spc="-10" dirty="0"/>
              <a:t>обработку</a:t>
            </a:r>
            <a:r>
              <a:rPr spc="-15" dirty="0"/>
              <a:t> </a:t>
            </a:r>
            <a:r>
              <a:rPr spc="-20" dirty="0"/>
              <a:t>потоков</a:t>
            </a:r>
            <a:r>
              <a:rPr spc="-25" dirty="0"/>
              <a:t> </a:t>
            </a:r>
            <a:r>
              <a:rPr dirty="0"/>
              <a:t>данных</a:t>
            </a:r>
            <a:r>
              <a:rPr spc="-15" dirty="0"/>
              <a:t> </a:t>
            </a:r>
            <a:r>
              <a:rPr dirty="0"/>
              <a:t>в</a:t>
            </a:r>
            <a:r>
              <a:rPr spc="-20" dirty="0"/>
              <a:t> </a:t>
            </a:r>
            <a:r>
              <a:rPr dirty="0"/>
              <a:t>реальном</a:t>
            </a:r>
            <a:r>
              <a:rPr spc="-25" dirty="0"/>
              <a:t> </a:t>
            </a:r>
            <a:r>
              <a:rPr spc="-10" dirty="0"/>
              <a:t>времени. </a:t>
            </a:r>
            <a:r>
              <a:rPr dirty="0"/>
              <a:t>Данные</a:t>
            </a:r>
            <a:r>
              <a:rPr spc="-45" dirty="0"/>
              <a:t> </a:t>
            </a:r>
            <a:r>
              <a:rPr dirty="0"/>
              <a:t>могут</a:t>
            </a:r>
            <a:r>
              <a:rPr spc="-35" dirty="0"/>
              <a:t> </a:t>
            </a:r>
            <a:r>
              <a:rPr dirty="0"/>
              <a:t>быть</a:t>
            </a:r>
            <a:r>
              <a:rPr spc="-40" dirty="0"/>
              <a:t> </a:t>
            </a:r>
            <a:r>
              <a:rPr dirty="0"/>
              <a:t>получены</a:t>
            </a:r>
            <a:r>
              <a:rPr spc="-45" dirty="0"/>
              <a:t> </a:t>
            </a:r>
            <a:r>
              <a:rPr dirty="0"/>
              <a:t>из</a:t>
            </a:r>
            <a:r>
              <a:rPr spc="-35" dirty="0"/>
              <a:t> </a:t>
            </a:r>
            <a:r>
              <a:rPr dirty="0"/>
              <a:t>многих</a:t>
            </a:r>
            <a:r>
              <a:rPr spc="-40" dirty="0"/>
              <a:t> </a:t>
            </a:r>
            <a:r>
              <a:rPr spc="-10" dirty="0"/>
              <a:t>источников,</a:t>
            </a:r>
            <a:r>
              <a:rPr spc="-35" dirty="0"/>
              <a:t> </a:t>
            </a:r>
            <a:r>
              <a:rPr dirty="0"/>
              <a:t>таких</a:t>
            </a:r>
            <a:r>
              <a:rPr spc="-35" dirty="0"/>
              <a:t> </a:t>
            </a:r>
            <a:r>
              <a:rPr dirty="0"/>
              <a:t>как</a:t>
            </a:r>
            <a:r>
              <a:rPr spc="-45" dirty="0"/>
              <a:t> </a:t>
            </a:r>
            <a:r>
              <a:rPr dirty="0"/>
              <a:t>Kafka,</a:t>
            </a:r>
            <a:r>
              <a:rPr spc="-35" dirty="0"/>
              <a:t> </a:t>
            </a:r>
            <a:r>
              <a:rPr dirty="0"/>
              <a:t>Kinesis</a:t>
            </a:r>
            <a:r>
              <a:rPr spc="-40" dirty="0"/>
              <a:t> </a:t>
            </a:r>
            <a:r>
              <a:rPr dirty="0"/>
              <a:t>или</a:t>
            </a:r>
            <a:r>
              <a:rPr spc="-45" dirty="0"/>
              <a:t> </a:t>
            </a:r>
            <a:r>
              <a:rPr spc="-10" dirty="0"/>
              <a:t>TCP-</a:t>
            </a:r>
            <a:r>
              <a:rPr dirty="0"/>
              <a:t>сокеты,</a:t>
            </a:r>
            <a:r>
              <a:rPr spc="-35" dirty="0"/>
              <a:t> </a:t>
            </a:r>
            <a:r>
              <a:rPr dirty="0"/>
              <a:t>и</a:t>
            </a:r>
            <a:r>
              <a:rPr spc="-40" dirty="0"/>
              <a:t> </a:t>
            </a:r>
            <a:r>
              <a:rPr dirty="0"/>
              <a:t>могут</a:t>
            </a:r>
            <a:r>
              <a:rPr spc="-40" dirty="0"/>
              <a:t> </a:t>
            </a:r>
            <a:r>
              <a:rPr spc="-20" dirty="0"/>
              <a:t>быть </a:t>
            </a:r>
            <a:r>
              <a:rPr spc="-10" dirty="0"/>
              <a:t>обработаны</a:t>
            </a:r>
            <a:r>
              <a:rPr spc="-35" dirty="0"/>
              <a:t> </a:t>
            </a:r>
            <a:r>
              <a:rPr dirty="0"/>
              <a:t>с</a:t>
            </a:r>
            <a:r>
              <a:rPr spc="-30" dirty="0"/>
              <a:t> </a:t>
            </a:r>
            <a:r>
              <a:rPr spc="-10" dirty="0"/>
              <a:t>помощью</a:t>
            </a:r>
            <a:r>
              <a:rPr spc="-35" dirty="0"/>
              <a:t> </a:t>
            </a:r>
            <a:r>
              <a:rPr dirty="0"/>
              <a:t>сложных</a:t>
            </a:r>
            <a:r>
              <a:rPr spc="-25" dirty="0"/>
              <a:t> </a:t>
            </a:r>
            <a:r>
              <a:rPr spc="-10" dirty="0"/>
              <a:t>алгоритмов,</a:t>
            </a:r>
            <a:r>
              <a:rPr spc="-30" dirty="0"/>
              <a:t> </a:t>
            </a:r>
            <a:r>
              <a:rPr dirty="0"/>
              <a:t>выраженных</a:t>
            </a:r>
            <a:r>
              <a:rPr spc="-25" dirty="0"/>
              <a:t> </a:t>
            </a:r>
            <a:r>
              <a:rPr dirty="0"/>
              <a:t>с</a:t>
            </a:r>
            <a:r>
              <a:rPr spc="-35" dirty="0"/>
              <a:t> </a:t>
            </a:r>
            <a:r>
              <a:rPr spc="-10" dirty="0"/>
              <a:t>помощью</a:t>
            </a:r>
            <a:r>
              <a:rPr spc="-30" dirty="0"/>
              <a:t> </a:t>
            </a:r>
            <a:r>
              <a:rPr spc="-10" dirty="0"/>
              <a:t>высокоуровневых</a:t>
            </a:r>
            <a:r>
              <a:rPr spc="-25" dirty="0"/>
              <a:t> </a:t>
            </a:r>
            <a:r>
              <a:rPr dirty="0"/>
              <a:t>функций,</a:t>
            </a:r>
            <a:r>
              <a:rPr spc="-30" dirty="0"/>
              <a:t> </a:t>
            </a:r>
            <a:r>
              <a:rPr dirty="0"/>
              <a:t>таких</a:t>
            </a:r>
            <a:r>
              <a:rPr spc="-25" dirty="0"/>
              <a:t> как </a:t>
            </a:r>
            <a:r>
              <a:rPr dirty="0"/>
              <a:t>map,</a:t>
            </a:r>
            <a:r>
              <a:rPr spc="-30" dirty="0"/>
              <a:t> </a:t>
            </a:r>
            <a:r>
              <a:rPr dirty="0"/>
              <a:t>reduce,</a:t>
            </a:r>
            <a:r>
              <a:rPr spc="-25" dirty="0"/>
              <a:t> </a:t>
            </a:r>
            <a:r>
              <a:rPr dirty="0"/>
              <a:t>join</a:t>
            </a:r>
            <a:r>
              <a:rPr spc="-30" dirty="0"/>
              <a:t> </a:t>
            </a:r>
            <a:r>
              <a:rPr dirty="0"/>
              <a:t>и</a:t>
            </a:r>
            <a:r>
              <a:rPr spc="-30" dirty="0"/>
              <a:t> </a:t>
            </a:r>
            <a:r>
              <a:rPr spc="-20" dirty="0"/>
              <a:t>window.</a:t>
            </a:r>
            <a:r>
              <a:rPr spc="-25" dirty="0"/>
              <a:t> </a:t>
            </a:r>
            <a:r>
              <a:rPr spc="-10" dirty="0"/>
              <a:t>Наконец,</a:t>
            </a:r>
            <a:r>
              <a:rPr spc="-30" dirty="0"/>
              <a:t> </a:t>
            </a:r>
            <a:r>
              <a:rPr spc="-10" dirty="0"/>
              <a:t>обработанные</a:t>
            </a:r>
            <a:r>
              <a:rPr spc="-30" dirty="0"/>
              <a:t> </a:t>
            </a:r>
            <a:r>
              <a:rPr dirty="0"/>
              <a:t>данные</a:t>
            </a:r>
            <a:r>
              <a:rPr spc="-35" dirty="0"/>
              <a:t> </a:t>
            </a:r>
            <a:r>
              <a:rPr dirty="0"/>
              <a:t>могут</a:t>
            </a:r>
            <a:r>
              <a:rPr spc="-25" dirty="0"/>
              <a:t> </a:t>
            </a:r>
            <a:r>
              <a:rPr dirty="0"/>
              <a:t>быть</a:t>
            </a:r>
            <a:r>
              <a:rPr spc="-30" dirty="0"/>
              <a:t> </a:t>
            </a:r>
            <a:r>
              <a:rPr dirty="0"/>
              <a:t>перенесены</a:t>
            </a:r>
            <a:r>
              <a:rPr spc="-35" dirty="0"/>
              <a:t> </a:t>
            </a:r>
            <a:r>
              <a:rPr dirty="0"/>
              <a:t>в</a:t>
            </a:r>
            <a:r>
              <a:rPr spc="-30" dirty="0"/>
              <a:t> </a:t>
            </a:r>
            <a:r>
              <a:rPr spc="-10" dirty="0"/>
              <a:t>файловые</a:t>
            </a:r>
            <a:r>
              <a:rPr spc="-30" dirty="0"/>
              <a:t> </a:t>
            </a:r>
            <a:r>
              <a:rPr dirty="0"/>
              <a:t>системы,</a:t>
            </a:r>
            <a:r>
              <a:rPr spc="-30" dirty="0"/>
              <a:t> </a:t>
            </a:r>
            <a:r>
              <a:rPr spc="-20" dirty="0"/>
              <a:t>базы </a:t>
            </a:r>
            <a:r>
              <a:rPr dirty="0"/>
              <a:t>данных</a:t>
            </a:r>
            <a:r>
              <a:rPr spc="-35" dirty="0"/>
              <a:t> </a:t>
            </a:r>
            <a:r>
              <a:rPr dirty="0"/>
              <a:t>и</a:t>
            </a:r>
            <a:r>
              <a:rPr spc="-40" dirty="0"/>
              <a:t> </a:t>
            </a:r>
            <a:r>
              <a:rPr dirty="0"/>
              <a:t>живые</a:t>
            </a:r>
            <a:r>
              <a:rPr spc="-40" dirty="0"/>
              <a:t> </a:t>
            </a:r>
            <a:r>
              <a:rPr spc="-10" dirty="0"/>
              <a:t>информационные</a:t>
            </a:r>
            <a:r>
              <a:rPr spc="-40" dirty="0"/>
              <a:t> </a:t>
            </a:r>
            <a:r>
              <a:rPr dirty="0"/>
              <a:t>панели.</a:t>
            </a:r>
            <a:r>
              <a:rPr spc="-35" dirty="0"/>
              <a:t> </a:t>
            </a:r>
            <a:r>
              <a:rPr dirty="0"/>
              <a:t>Фактически,</a:t>
            </a:r>
            <a:r>
              <a:rPr spc="-30" dirty="0"/>
              <a:t> </a:t>
            </a:r>
            <a:r>
              <a:rPr dirty="0"/>
              <a:t>вы</a:t>
            </a:r>
            <a:r>
              <a:rPr spc="-40" dirty="0"/>
              <a:t> </a:t>
            </a:r>
            <a:r>
              <a:rPr spc="-10" dirty="0"/>
              <a:t>можете</a:t>
            </a:r>
            <a:r>
              <a:rPr spc="-40" dirty="0"/>
              <a:t> </a:t>
            </a:r>
            <a:r>
              <a:rPr spc="-10" dirty="0"/>
              <a:t>применить</a:t>
            </a:r>
            <a:r>
              <a:rPr spc="-40" dirty="0"/>
              <a:t> </a:t>
            </a:r>
            <a:r>
              <a:rPr dirty="0"/>
              <a:t>алгоритмы</a:t>
            </a:r>
            <a:r>
              <a:rPr spc="-40" dirty="0"/>
              <a:t> </a:t>
            </a:r>
            <a:r>
              <a:rPr spc="-10" dirty="0"/>
              <a:t>машинного</a:t>
            </a:r>
            <a:r>
              <a:rPr spc="-30" dirty="0"/>
              <a:t> </a:t>
            </a:r>
            <a:r>
              <a:rPr spc="-10" dirty="0"/>
              <a:t>обучения </a:t>
            </a:r>
            <a:r>
              <a:rPr dirty="0"/>
              <a:t>Spark</a:t>
            </a:r>
            <a:r>
              <a:rPr spc="-35" dirty="0"/>
              <a:t> </a:t>
            </a:r>
            <a:r>
              <a:rPr dirty="0"/>
              <a:t>и</a:t>
            </a:r>
            <a:r>
              <a:rPr spc="-35" dirty="0"/>
              <a:t> </a:t>
            </a:r>
            <a:r>
              <a:rPr dirty="0"/>
              <a:t>обработки</a:t>
            </a:r>
            <a:r>
              <a:rPr spc="-35" dirty="0"/>
              <a:t> </a:t>
            </a:r>
            <a:r>
              <a:rPr dirty="0"/>
              <a:t>графов</a:t>
            </a:r>
            <a:r>
              <a:rPr spc="-35" dirty="0"/>
              <a:t> </a:t>
            </a:r>
            <a:r>
              <a:rPr dirty="0"/>
              <a:t>к</a:t>
            </a:r>
            <a:r>
              <a:rPr spc="-40" dirty="0"/>
              <a:t> </a:t>
            </a:r>
            <a:r>
              <a:rPr spc="-10" dirty="0"/>
              <a:t>потокам</a:t>
            </a:r>
            <a:r>
              <a:rPr spc="-35" dirty="0"/>
              <a:t> </a:t>
            </a:r>
            <a:r>
              <a:rPr spc="-10" dirty="0"/>
              <a:t>данных.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20063"/>
            <a:ext cx="8839200" cy="33033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178" y="403154"/>
            <a:ext cx="6084787" cy="2108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4343" y="2837606"/>
            <a:ext cx="7223739" cy="18364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85488"/>
            <a:ext cx="8839199" cy="19725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Spark</a:t>
            </a:r>
            <a:r>
              <a:rPr spc="-70" dirty="0"/>
              <a:t> </a:t>
            </a:r>
            <a:r>
              <a:rPr spc="-10" dirty="0"/>
              <a:t>Streaming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Дискретизированный</a:t>
            </a:r>
            <a:r>
              <a:rPr spc="-20" dirty="0"/>
              <a:t> </a:t>
            </a:r>
            <a:r>
              <a:rPr dirty="0"/>
              <a:t>поток</a:t>
            </a:r>
            <a:r>
              <a:rPr spc="-15" dirty="0"/>
              <a:t> </a:t>
            </a:r>
            <a:r>
              <a:rPr dirty="0"/>
              <a:t>или</a:t>
            </a:r>
            <a:r>
              <a:rPr spc="-15" dirty="0"/>
              <a:t> </a:t>
            </a:r>
            <a:r>
              <a:rPr b="1" spc="-10" dirty="0">
                <a:latin typeface="Times New Roman"/>
                <a:cs typeface="Times New Roman"/>
              </a:rPr>
              <a:t>DStream</a:t>
            </a:r>
            <a:r>
              <a:rPr spc="-10" dirty="0"/>
              <a:t>-</a:t>
            </a:r>
            <a:r>
              <a:rPr dirty="0"/>
              <a:t>это</a:t>
            </a:r>
            <a:r>
              <a:rPr spc="-15" dirty="0"/>
              <a:t> </a:t>
            </a:r>
            <a:r>
              <a:rPr spc="-10" dirty="0"/>
              <a:t>базовая</a:t>
            </a:r>
            <a:r>
              <a:rPr spc="-15" dirty="0"/>
              <a:t> </a:t>
            </a:r>
            <a:r>
              <a:rPr dirty="0"/>
              <a:t>абстракция,</a:t>
            </a:r>
            <a:r>
              <a:rPr spc="-10" dirty="0"/>
              <a:t> предоставляемая</a:t>
            </a:r>
            <a:r>
              <a:rPr spc="-20" dirty="0"/>
              <a:t> </a:t>
            </a:r>
            <a:r>
              <a:rPr dirty="0"/>
              <a:t>Spark</a:t>
            </a:r>
            <a:r>
              <a:rPr spc="-10" dirty="0"/>
              <a:t> </a:t>
            </a:r>
            <a:r>
              <a:rPr dirty="0"/>
              <a:t>Streaming.</a:t>
            </a:r>
            <a:r>
              <a:rPr spc="-10" dirty="0"/>
              <a:t> </a:t>
            </a:r>
            <a:r>
              <a:rPr spc="-25" dirty="0"/>
              <a:t>Он </a:t>
            </a:r>
            <a:r>
              <a:rPr spc="-10" dirty="0"/>
              <a:t>представляет</a:t>
            </a:r>
            <a:r>
              <a:rPr spc="-35" dirty="0"/>
              <a:t> </a:t>
            </a:r>
            <a:r>
              <a:rPr dirty="0"/>
              <a:t>собой</a:t>
            </a:r>
            <a:r>
              <a:rPr spc="-40" dirty="0"/>
              <a:t> </a:t>
            </a:r>
            <a:r>
              <a:rPr spc="-10" dirty="0"/>
              <a:t>непрерывный</a:t>
            </a:r>
            <a:r>
              <a:rPr spc="-35" dirty="0"/>
              <a:t> </a:t>
            </a:r>
            <a:r>
              <a:rPr dirty="0"/>
              <a:t>поток</a:t>
            </a:r>
            <a:r>
              <a:rPr spc="-40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dirty="0"/>
              <a:t>либо</a:t>
            </a:r>
            <a:r>
              <a:rPr spc="-30" dirty="0"/>
              <a:t> </a:t>
            </a:r>
            <a:r>
              <a:rPr spc="-20" dirty="0"/>
              <a:t>входной</a:t>
            </a:r>
            <a:r>
              <a:rPr spc="-40" dirty="0"/>
              <a:t> </a:t>
            </a:r>
            <a:r>
              <a:rPr dirty="0"/>
              <a:t>поток</a:t>
            </a:r>
            <a:r>
              <a:rPr spc="-35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spc="-10" dirty="0"/>
              <a:t>полученный</a:t>
            </a:r>
            <a:r>
              <a:rPr spc="-40" dirty="0"/>
              <a:t> </a:t>
            </a:r>
            <a:r>
              <a:rPr dirty="0"/>
              <a:t>из</a:t>
            </a:r>
            <a:r>
              <a:rPr spc="-35" dirty="0"/>
              <a:t> </a:t>
            </a:r>
            <a:r>
              <a:rPr spc="-10" dirty="0"/>
              <a:t>источника,</a:t>
            </a:r>
            <a:r>
              <a:rPr spc="-35" dirty="0"/>
              <a:t> </a:t>
            </a:r>
            <a:r>
              <a:rPr spc="-20" dirty="0"/>
              <a:t>либо </a:t>
            </a:r>
            <a:r>
              <a:rPr spc="-10" dirty="0"/>
              <a:t>обработанный</a:t>
            </a:r>
            <a:r>
              <a:rPr spc="-45" dirty="0"/>
              <a:t> </a:t>
            </a:r>
            <a:r>
              <a:rPr dirty="0"/>
              <a:t>поток</a:t>
            </a:r>
            <a:r>
              <a:rPr spc="-40" dirty="0"/>
              <a:t> </a:t>
            </a:r>
            <a:r>
              <a:rPr dirty="0"/>
              <a:t>данных,</a:t>
            </a:r>
            <a:r>
              <a:rPr spc="-35" dirty="0"/>
              <a:t> </a:t>
            </a:r>
            <a:r>
              <a:rPr spc="-10" dirty="0"/>
              <a:t>созданный</a:t>
            </a:r>
            <a:r>
              <a:rPr spc="-40" dirty="0"/>
              <a:t> </a:t>
            </a:r>
            <a:r>
              <a:rPr dirty="0"/>
              <a:t>путем</a:t>
            </a:r>
            <a:r>
              <a:rPr spc="-40" dirty="0"/>
              <a:t> </a:t>
            </a:r>
            <a:r>
              <a:rPr spc="-10" dirty="0"/>
              <a:t>преобразования</a:t>
            </a:r>
            <a:r>
              <a:rPr spc="-40" dirty="0"/>
              <a:t> </a:t>
            </a:r>
            <a:r>
              <a:rPr spc="-20" dirty="0"/>
              <a:t>входного</a:t>
            </a:r>
            <a:r>
              <a:rPr spc="-35" dirty="0"/>
              <a:t> </a:t>
            </a:r>
            <a:r>
              <a:rPr spc="-10" dirty="0"/>
              <a:t>потока.</a:t>
            </a:r>
            <a:r>
              <a:rPr spc="-35" dirty="0"/>
              <a:t> </a:t>
            </a:r>
            <a:r>
              <a:rPr dirty="0"/>
              <a:t>Внутренне</a:t>
            </a:r>
            <a:r>
              <a:rPr spc="-45" dirty="0"/>
              <a:t> </a:t>
            </a:r>
            <a:r>
              <a:rPr spc="-10" dirty="0"/>
              <a:t>DStream представлен</a:t>
            </a:r>
            <a:r>
              <a:rPr spc="-35" dirty="0"/>
              <a:t> </a:t>
            </a:r>
            <a:r>
              <a:rPr spc="-10" dirty="0"/>
              <a:t>непрерывной</a:t>
            </a:r>
            <a:r>
              <a:rPr spc="-30" dirty="0"/>
              <a:t> </a:t>
            </a:r>
            <a:r>
              <a:rPr dirty="0"/>
              <a:t>серией</a:t>
            </a:r>
            <a:r>
              <a:rPr spc="-30" dirty="0"/>
              <a:t> </a:t>
            </a:r>
            <a:r>
              <a:rPr dirty="0"/>
              <a:t>RDDS,</a:t>
            </a:r>
            <a:r>
              <a:rPr spc="-25" dirty="0"/>
              <a:t> </a:t>
            </a:r>
            <a:r>
              <a:rPr spc="-20" dirty="0"/>
              <a:t>которая</a:t>
            </a:r>
            <a:r>
              <a:rPr spc="-30" dirty="0"/>
              <a:t> </a:t>
            </a:r>
            <a:r>
              <a:rPr dirty="0"/>
              <a:t>является</a:t>
            </a:r>
            <a:r>
              <a:rPr spc="-30" dirty="0"/>
              <a:t> </a:t>
            </a:r>
            <a:r>
              <a:rPr spc="-10" dirty="0"/>
              <a:t>абстракцией</a:t>
            </a:r>
            <a:r>
              <a:rPr spc="-35" dirty="0"/>
              <a:t> </a:t>
            </a:r>
            <a:r>
              <a:rPr dirty="0"/>
              <a:t>Spark</a:t>
            </a:r>
            <a:r>
              <a:rPr spc="-25" dirty="0"/>
              <a:t> </a:t>
            </a:r>
            <a:r>
              <a:rPr spc="-10" dirty="0"/>
              <a:t>неизменяемого</a:t>
            </a:r>
            <a:r>
              <a:rPr spc="-25" dirty="0"/>
              <a:t> </a:t>
            </a:r>
            <a:r>
              <a:rPr spc="-10" dirty="0"/>
              <a:t>распределенного </a:t>
            </a:r>
            <a:r>
              <a:rPr dirty="0"/>
              <a:t>набора</a:t>
            </a:r>
            <a:r>
              <a:rPr spc="-35" dirty="0"/>
              <a:t> </a:t>
            </a:r>
            <a:r>
              <a:rPr dirty="0"/>
              <a:t>данных</a:t>
            </a:r>
            <a:r>
              <a:rPr spc="-30" dirty="0"/>
              <a:t> </a:t>
            </a:r>
            <a:r>
              <a:rPr spc="-10" dirty="0"/>
              <a:t>(подробнее</a:t>
            </a:r>
            <a:r>
              <a:rPr spc="-30" dirty="0"/>
              <a:t> </a:t>
            </a:r>
            <a:r>
              <a:rPr dirty="0"/>
              <a:t>см.</a:t>
            </a:r>
            <a:r>
              <a:rPr spc="-30" dirty="0"/>
              <a:t> </a:t>
            </a:r>
            <a:r>
              <a:rPr spc="-20" dirty="0"/>
              <a:t>Руководство</a:t>
            </a:r>
            <a:r>
              <a:rPr spc="-30" dirty="0"/>
              <a:t> </a:t>
            </a:r>
            <a:r>
              <a:rPr dirty="0"/>
              <a:t>по</a:t>
            </a:r>
            <a:r>
              <a:rPr spc="-25" dirty="0"/>
              <a:t> </a:t>
            </a:r>
            <a:r>
              <a:rPr spc="-10" dirty="0"/>
              <a:t>программированию</a:t>
            </a:r>
            <a:r>
              <a:rPr spc="-35" dirty="0"/>
              <a:t> </a:t>
            </a:r>
            <a:r>
              <a:rPr dirty="0"/>
              <a:t>Spark).</a:t>
            </a:r>
            <a:r>
              <a:rPr spc="-30" dirty="0"/>
              <a:t> </a:t>
            </a:r>
            <a:r>
              <a:rPr dirty="0"/>
              <a:t>Каждый</a:t>
            </a:r>
            <a:r>
              <a:rPr spc="-30" dirty="0"/>
              <a:t> </a:t>
            </a:r>
            <a:r>
              <a:rPr dirty="0"/>
              <a:t>RDD</a:t>
            </a:r>
            <a:r>
              <a:rPr spc="-35" dirty="0"/>
              <a:t> </a:t>
            </a:r>
            <a:r>
              <a:rPr dirty="0"/>
              <a:t>в</a:t>
            </a:r>
            <a:r>
              <a:rPr spc="-30" dirty="0"/>
              <a:t> </a:t>
            </a:r>
            <a:r>
              <a:rPr spc="-10" dirty="0"/>
              <a:t>потоке</a:t>
            </a:r>
            <a:r>
              <a:rPr spc="-35" dirty="0"/>
              <a:t> </a:t>
            </a:r>
            <a:r>
              <a:rPr spc="-10" dirty="0"/>
              <a:t>содержит </a:t>
            </a:r>
            <a:r>
              <a:rPr dirty="0"/>
              <a:t>данные</a:t>
            </a:r>
            <a:r>
              <a:rPr spc="-45" dirty="0"/>
              <a:t> </a:t>
            </a:r>
            <a:r>
              <a:rPr dirty="0"/>
              <a:t>с</a:t>
            </a:r>
            <a:r>
              <a:rPr spc="-40" dirty="0"/>
              <a:t> </a:t>
            </a:r>
            <a:r>
              <a:rPr spc="-10" dirty="0"/>
              <a:t>определенного</a:t>
            </a:r>
            <a:r>
              <a:rPr spc="-35" dirty="0"/>
              <a:t> </a:t>
            </a:r>
            <a:r>
              <a:rPr spc="-10" dirty="0"/>
              <a:t>интервала,</a:t>
            </a:r>
            <a:r>
              <a:rPr spc="-35" dirty="0"/>
              <a:t> </a:t>
            </a:r>
            <a:r>
              <a:rPr dirty="0"/>
              <a:t>как</a:t>
            </a:r>
            <a:r>
              <a:rPr spc="-40" dirty="0"/>
              <a:t> </a:t>
            </a:r>
            <a:r>
              <a:rPr dirty="0"/>
              <a:t>показано</a:t>
            </a:r>
            <a:r>
              <a:rPr spc="-35" dirty="0"/>
              <a:t> </a:t>
            </a:r>
            <a:r>
              <a:rPr dirty="0"/>
              <a:t>на</a:t>
            </a:r>
            <a:r>
              <a:rPr spc="-40" dirty="0"/>
              <a:t> </a:t>
            </a:r>
            <a:r>
              <a:rPr spc="-10" dirty="0"/>
              <a:t>следующем</a:t>
            </a:r>
            <a:r>
              <a:rPr spc="-40" dirty="0"/>
              <a:t> </a:t>
            </a:r>
            <a:r>
              <a:rPr spc="-10" dirty="0"/>
              <a:t>рисунке.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80025"/>
            <a:ext cx="33832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Fault</a:t>
            </a:r>
            <a:r>
              <a:rPr spc="-9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tolerance</a:t>
            </a:r>
            <a:r>
              <a:rPr spc="-9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174" y="1382047"/>
            <a:ext cx="7994650" cy="3402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У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любой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системы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передачи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существуют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свои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уровни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надёжности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доставки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данных: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marR="222885" indent="-351790">
              <a:lnSpc>
                <a:spcPct val="100000"/>
              </a:lnSpc>
              <a:buClr>
                <a:srgbClr val="595959"/>
              </a:buClr>
              <a:buSzPct val="94117"/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solidFill>
                  <a:srgbClr val="0C0D0D"/>
                </a:solidFill>
                <a:latin typeface="Times New Roman"/>
                <a:cs typeface="Times New Roman"/>
              </a:rPr>
              <a:t>At-most-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once</a:t>
            </a:r>
            <a:r>
              <a:rPr sz="1700" b="1" spc="-2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delivery</a:t>
            </a:r>
            <a:r>
              <a:rPr sz="1700" b="1" spc="-5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–</a:t>
            </a:r>
            <a:r>
              <a:rPr sz="1600" spc="3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самый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низкий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надёжности,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который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гарантирует,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что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0C0D0D"/>
                </a:solidFill>
                <a:latin typeface="Times New Roman"/>
                <a:cs typeface="Times New Roman"/>
              </a:rPr>
              <a:t>будет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произведено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более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одной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доставки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данных,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может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приводить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к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потере данных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marR="221615" indent="-351790" algn="just">
              <a:lnSpc>
                <a:spcPct val="100000"/>
              </a:lnSpc>
              <a:buSzPct val="94117"/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700" b="1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700" b="1" spc="-10" dirty="0">
                <a:latin typeface="Times New Roman"/>
                <a:cs typeface="Times New Roman"/>
              </a:rPr>
              <a:t>At-least-</a:t>
            </a:r>
            <a:r>
              <a:rPr sz="1700" b="1" dirty="0">
                <a:latin typeface="Times New Roman"/>
                <a:cs typeface="Times New Roman"/>
              </a:rPr>
              <a:t>once</a:t>
            </a:r>
            <a:r>
              <a:rPr sz="1700" b="1" spc="-3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delivery</a:t>
            </a:r>
            <a:r>
              <a:rPr sz="1700" b="1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более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высокий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уровень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надёжности,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который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гарантирует, </a:t>
            </a:r>
            <a:r>
              <a:rPr sz="1600" dirty="0">
                <a:latin typeface="Times New Roman"/>
                <a:cs typeface="Times New Roman"/>
              </a:rPr>
              <a:t>что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будет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произведена,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как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минимум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одна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доставка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будет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выполнена,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может приводить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к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дубляжу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данных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на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стороне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приёмника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marR="140970" indent="-351790">
              <a:lnSpc>
                <a:spcPct val="115100"/>
              </a:lnSpc>
              <a:buChar char="●"/>
              <a:tabLst>
                <a:tab pos="469900" algn="l"/>
                <a:tab pos="523240" algn="l"/>
              </a:tabLst>
            </a:pPr>
            <a:r>
              <a:rPr sz="1600" b="1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700" b="1" spc="-10" dirty="0">
                <a:solidFill>
                  <a:srgbClr val="0C0D0D"/>
                </a:solidFill>
                <a:latin typeface="Times New Roman"/>
                <a:cs typeface="Times New Roman"/>
              </a:rPr>
              <a:t>Exactly-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once</a:t>
            </a:r>
            <a:r>
              <a:rPr sz="1700" b="1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C0D0D"/>
                </a:solidFill>
                <a:latin typeface="Times New Roman"/>
                <a:cs typeface="Times New Roman"/>
              </a:rPr>
              <a:t>delivery</a:t>
            </a:r>
            <a:r>
              <a:rPr sz="1700" b="1" spc="-6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–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самый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высокий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надёжности,</a:t>
            </a:r>
            <a:r>
              <a:rPr sz="1600" spc="-3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который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гарантирует,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что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данных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будут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потеряны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и</a:t>
            </a:r>
            <a:r>
              <a:rPr sz="1600" spc="-5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не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C0D0D"/>
                </a:solidFill>
                <a:latin typeface="Times New Roman"/>
                <a:cs typeface="Times New Roman"/>
              </a:rPr>
              <a:t>будут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задублированы.</a:t>
            </a:r>
            <a:r>
              <a:rPr sz="1600" spc="-40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Именно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такой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уровень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надёжности</a:t>
            </a:r>
            <a:r>
              <a:rPr sz="1600" spc="-4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гарантирует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C0D0D"/>
                </a:solidFill>
                <a:latin typeface="Times New Roman"/>
                <a:cs typeface="Times New Roman"/>
              </a:rPr>
              <a:t>Spark</a:t>
            </a:r>
            <a:r>
              <a:rPr sz="1600" spc="-35" dirty="0">
                <a:solidFill>
                  <a:srgbClr val="0C0D0D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C0D0D"/>
                </a:solidFill>
                <a:latin typeface="Times New Roman"/>
                <a:cs typeface="Times New Roman"/>
              </a:rPr>
              <a:t>Streaming.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603575"/>
            <a:ext cx="8839199" cy="19363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99975"/>
            <a:ext cx="8839199" cy="31435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46600"/>
            <a:ext cx="8839199" cy="345031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125" y="1791062"/>
            <a:ext cx="865568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Вы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также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можете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легко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использовать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алгоритмы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предоставляемые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MLlib.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Прежде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всего, существуют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алгоритмы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потокового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(например,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потоковая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линейная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регрессия,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Потоковые </a:t>
            </a:r>
            <a:r>
              <a:rPr sz="1400" b="1" dirty="0">
                <a:latin typeface="Times New Roman"/>
                <a:cs typeface="Times New Roman"/>
              </a:rPr>
              <a:t>KMeans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т. </a:t>
            </a:r>
            <a:r>
              <a:rPr sz="1400" dirty="0">
                <a:latin typeface="Times New Roman"/>
                <a:cs typeface="Times New Roman"/>
              </a:rPr>
              <a:t>Д.),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которые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могут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одновременно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учиться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потоковых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данных,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также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применять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к </a:t>
            </a:r>
            <a:r>
              <a:rPr sz="1400" spc="-10" dirty="0">
                <a:latin typeface="Times New Roman"/>
                <a:cs typeface="Times New Roman"/>
              </a:rPr>
              <a:t>потоковым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данным.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Помимо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этого,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гораздо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более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широкого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класса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алгоритмов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машинного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вы </a:t>
            </a:r>
            <a:r>
              <a:rPr sz="1400" spc="-10" dirty="0">
                <a:latin typeface="Times New Roman"/>
                <a:cs typeface="Times New Roman"/>
              </a:rPr>
              <a:t>можете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изучить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обучения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автономном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режиме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(то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есть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использованием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исторических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данных),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затем применить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модель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онлайн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к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потоковым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данным.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0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ML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DStream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6054" y="2344201"/>
            <a:ext cx="4949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 streaming &amp;</a:t>
            </a:r>
            <a:r>
              <a:rPr spc="-5" dirty="0"/>
              <a:t> </a:t>
            </a:r>
            <a:r>
              <a:rPr spc="-10" dirty="0">
                <a:solidFill>
                  <a:srgbClr val="0097A7"/>
                </a:solidFill>
                <a:hlinkClick r:id="rId2"/>
              </a:rPr>
              <a:t>Dataframe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97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Structured </a:t>
            </a:r>
            <a:r>
              <a:rPr spc="-10" dirty="0"/>
              <a:t>streaming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5208"/>
            <a:ext cx="836549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Ключевая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идея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структурированной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передачи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состоит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том,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чтобы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рассматривать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поток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живых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данных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таблицу,</a:t>
            </a:r>
            <a:r>
              <a:rPr sz="18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которая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постоянно</a:t>
            </a:r>
            <a:r>
              <a:rPr sz="18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добавляется.</a:t>
            </a:r>
            <a:r>
              <a:rPr sz="1800" spc="5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Это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приводит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новой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модели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потоковой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обработки,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которая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очень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похожа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на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модель пакетной</a:t>
            </a:r>
            <a:r>
              <a:rPr sz="18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обработки.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будете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выражать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свои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потоковые</a:t>
            </a:r>
            <a:r>
              <a:rPr sz="18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вычисления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виде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стандартного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Times New Roman"/>
                <a:cs typeface="Times New Roman"/>
              </a:rPr>
              <a:t>пакетного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запроса,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как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статической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таблице,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а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Spark</a:t>
            </a:r>
            <a:r>
              <a:rPr sz="18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запускает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его</a:t>
            </a:r>
            <a:r>
              <a:rPr sz="18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Times New Roman"/>
                <a:cs typeface="Times New Roman"/>
              </a:rPr>
              <a:t>как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инкрементный</a:t>
            </a:r>
            <a:r>
              <a:rPr sz="18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запрос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в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95959"/>
                </a:solidFill>
                <a:latin typeface="Times New Roman"/>
                <a:cs typeface="Times New Roman"/>
              </a:rPr>
              <a:t>неограниченной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входной</a:t>
            </a:r>
            <a:r>
              <a:rPr sz="18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imes New Roman"/>
                <a:cs typeface="Times New Roman"/>
              </a:rPr>
              <a:t>таблице.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286" y="877010"/>
            <a:ext cx="7709375" cy="35698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9987" y="464574"/>
            <a:ext cx="4682612" cy="43357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6962" y="467967"/>
            <a:ext cx="5163032" cy="4382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47" y="825112"/>
            <a:ext cx="3323872" cy="32865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1936" y="1228430"/>
            <a:ext cx="4981776" cy="28588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462" y="496692"/>
            <a:ext cx="7804369" cy="423095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2" y="457580"/>
            <a:ext cx="7490058" cy="44247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397" y="397729"/>
            <a:ext cx="6384793" cy="430352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23333"/>
            <a:ext cx="2248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Microsoft Sans Serif"/>
                <a:cs typeface="Microsoft Sans Serif"/>
              </a:rPr>
              <a:t>Window</a:t>
            </a:r>
            <a:r>
              <a:rPr sz="2700" spc="-14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Types</a:t>
            </a:r>
            <a:endParaRPr sz="27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950" y="852975"/>
            <a:ext cx="7010021" cy="41235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629</Words>
  <Application>Microsoft Office PowerPoint</Application>
  <PresentationFormat>Экран (16:9)</PresentationFormat>
  <Paragraphs>47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Comic Sans MS</vt:lpstr>
      <vt:lpstr>Microsoft Sans Serif</vt:lpstr>
      <vt:lpstr>Times New Roman</vt:lpstr>
      <vt:lpstr>Office Theme</vt:lpstr>
      <vt:lpstr>Промышленное машинное обучение на Spark</vt:lpstr>
      <vt:lpstr>08. Обработка потоковых данных. Structured Streaming и интеграция с spark.ml.</vt:lpstr>
      <vt:lpstr>Потоковые данные где их искать.</vt:lpstr>
      <vt:lpstr>Потоковые данные где их искать.</vt:lpstr>
      <vt:lpstr>Сценарии отказа.</vt:lpstr>
      <vt:lpstr>Отказ во время обработки.</vt:lpstr>
      <vt:lpstr>Отказ во время отправки ответа о результатах обработки.</vt:lpstr>
      <vt:lpstr>Лямбда архитектура</vt:lpstr>
      <vt:lpstr>Лямбда-архитектура</vt:lpstr>
      <vt:lpstr>Презентация PowerPoint</vt:lpstr>
      <vt:lpstr>Spark Streaming &amp; DStream</vt:lpstr>
      <vt:lpstr>Spark Streaming</vt:lpstr>
      <vt:lpstr>Spark Streaming</vt:lpstr>
      <vt:lpstr>Презентация PowerPoint</vt:lpstr>
      <vt:lpstr>Spark Streaming</vt:lpstr>
      <vt:lpstr>DStream</vt:lpstr>
      <vt:lpstr>Fault tolerance levels</vt:lpstr>
      <vt:lpstr>DStream</vt:lpstr>
      <vt:lpstr>DStream</vt:lpstr>
      <vt:lpstr>DStream</vt:lpstr>
      <vt:lpstr>ML &amp; DStream</vt:lpstr>
      <vt:lpstr>Structured streaming &amp; Dataframe</vt:lpstr>
      <vt:lpstr>Structured streaming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Window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без названия</dc:title>
  <cp:lastModifiedBy>Илья Толоконов</cp:lastModifiedBy>
  <cp:revision>1</cp:revision>
  <dcterms:created xsi:type="dcterms:W3CDTF">2025-11-09T09:15:31Z</dcterms:created>
  <dcterms:modified xsi:type="dcterms:W3CDTF">2025-11-15T06:43:02Z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2025-11-09T00:00:00Z</vt:filetime>
  </property>
</Properties>
</file>